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9" r:id="rId10"/>
    <p:sldId id="278" r:id="rId11"/>
    <p:sldId id="284" r:id="rId12"/>
    <p:sldId id="288" r:id="rId13"/>
    <p:sldId id="281" r:id="rId14"/>
    <p:sldId id="282" r:id="rId15"/>
    <p:sldId id="283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RFP RESPONSE · MC-2026-0417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Modernizing Meridian's
Inventory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337560"/>
            <a:ext cx="457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</a:rPr>
              <a:t>adesso is ready to remediate, extend, and future-proof the platform Meridian's previous vendor left behind — on a fixed-fee engagement with no surprises.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348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Prepared by </a:t>
            </a:r>
            <a:r>
              <a:rPr sz="1100" b="1">
                <a:solidFill>
                  <a:srgbClr val="94A3B8"/>
                </a:solidFill>
              </a:rPr>
              <a:t>adesso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4348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Submitted </a:t>
            </a:r>
            <a:r>
              <a:rPr sz="1100" b="1">
                <a:solidFill>
                  <a:srgbClr val="94A3B8"/>
                </a:solidFill>
              </a:rPr>
              <a:t>May 8,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4348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Contact </a:t>
            </a:r>
            <a:r>
              <a:rPr sz="1100" b="1">
                <a:solidFill>
                  <a:srgbClr val="94A3B8"/>
                </a:solidFill>
              </a:rPr>
              <a:t>marcel.cossijns@adesso.de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51811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What Meridian has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Reports module filters are unwired — data does not filter on user input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No automated test coverage delivered — IT team is blocking all changes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i18n gaps leave Tokyo warehouse staff without translated UI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Inconsistent API patterns across views; console errors in production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No architecture documentation — new engineers cannot onboard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Previous vendor departed November 2024 with minimal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39496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48132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MISSING ENTIRELY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Restocking recommendations view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Budget-ceiling purchase order logic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End-to-end browser tests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Current-state architecture docs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017520"/>
            <a:ext cx="539496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312724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F4444"/>
                </a:solidFill>
              </a:rPr>
              <a:t>RISK IF LEFT UNADDRESSED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3375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IT gatekeeper blocks deployments. Operations team makes restock decisions without tooling.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Tokyo warehouse operates on a partially translated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2298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STAKEHOLDER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Who we're working for — and what they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749039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34747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VP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8FAFC"/>
                </a:solidFill>
              </a:rPr>
              <a:t>R. Tanaka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67128"/>
            <a:ext cx="3474719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176272"/>
            <a:ext cx="341985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8FAFC"/>
                </a:solidFill>
              </a:rPr>
              <a:t>Daily Dashboard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4747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Frustrated with the previous vendor. Her priority is the Restocking view (R2) — she needs data-driven purchase recommendations with a budget ceiling her team can adjust.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749039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527048"/>
            <a:ext cx="34747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IT (GATEKEEPER)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64792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8FAFC"/>
                </a:solidFill>
              </a:rPr>
              <a:t>Unnamed contact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167128"/>
            <a:ext cx="347471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2176272"/>
            <a:ext cx="341985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8FAFC"/>
                </a:solidFill>
              </a:rPr>
              <a:t>Blocking Deployments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68880"/>
            <a:ext cx="34747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Has blocked all changes because no test coverage was delivered. R3 (automated browser tests) is non-negotiable — it must land before IT will approve anything.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749039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527048"/>
            <a:ext cx="34747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DIRECTOR OF PROCUREMENT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764792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8FAFC"/>
                </a:solidFill>
              </a:rPr>
              <a:t>J. Okafor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167128"/>
            <a:ext cx="3474719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176272"/>
            <a:ext cx="341985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8FAFC"/>
                </a:solidFill>
              </a:rPr>
              <a:t>Vendor Selection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468880"/>
            <a:ext cx="34747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Owns the decision. Values timeline and price predictability above all. We respond with a fixed-fee structure and a 10-week delivery plan with clear phase gates.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5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3 warehouses · San Francisco (HQ) · London (EMEA) · Tokyo (APAC, opened 2023) · ~180 employees · ~$9.6M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7758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APPROACH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Four required deliverables, one structured engagement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65176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6517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527048"/>
            <a:ext cx="24323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737360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Reports Remediation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94560"/>
            <a:ext cx="24323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Audit every issue, fix at least 8 — filters, i18n gaps, API inconsistencies, console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4892040"/>
            <a:ext cx="2432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Phase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65176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527048"/>
            <a:ext cx="24323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366F1"/>
                </a:solidFill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737360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Restocking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194560"/>
            <a:ext cx="24323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New Vue view. Stock levels + demand forecast + operator budget ceiling → purchase order recommendations.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4892040"/>
            <a:ext cx="2432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366F1"/>
                </a:solidFill>
              </a:rPr>
              <a:t>Phase 2–3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417320"/>
            <a:ext cx="265176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417320"/>
            <a:ext cx="26517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0488" y="1527048"/>
            <a:ext cx="24323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C55E"/>
                </a:solidFill>
              </a:rPr>
              <a:t>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737360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Automated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194560"/>
            <a:ext cx="24323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Playwright end-to-end coverage for critical flows. CI-ready. Unblocks IT approval gate.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4892040"/>
            <a:ext cx="2432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C55E"/>
                </a:solidFill>
              </a:rPr>
              <a:t>Phase 2–3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1417320"/>
            <a:ext cx="265176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51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25128" y="1527048"/>
            <a:ext cx="24323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</a:rPr>
              <a:t>R4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1737360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Architecture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2194560"/>
            <a:ext cx="24323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Current-state overview delivered in Week 2. Enables IT onboarding and safe future changes.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4892040"/>
            <a:ext cx="2432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</a:rPr>
              <a:t>Phase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5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Plus desired deliverables D1–D3 (UI modernization, full i18n, dark mode) scoped in optional Phase 3 extension.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91112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REQUIRED DELIVERABLE ·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Reports Remediation — audit first, fix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</a:rPr>
              <a:t>› Filter behavior — dropdowns and date pickers do not wire to the underlying data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</a:rPr>
              <a:t>› i18n gaps — untranslated strings across the Reports view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</a:rPr>
              <a:t>› API pattern inconsistencies — mix of direct fetch and abstracted service calls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</a:rPr>
              <a:t>› Console noise — unhandled promise rejections and Vue warnings in production builds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17320"/>
            <a:ext cx="53949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2704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OUR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Structured audit pass — document each defect before touching code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Deliver audit log to Meridian for sign-off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Fix in order of stakeholder impact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Each fix accompanied by a regression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566160"/>
            <a:ext cx="539496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36758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2C55E"/>
                </a:solidFill>
              </a:rPr>
              <a:t>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886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RFP requires 'at least 8 issues.' We will document everything we find and fix in priority order — no cherry-picking easy wins.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1653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REQUIRED DELIVERABLE · 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Restocking Recommendations — the feature Tanaka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New Vue 3 Composition API view — consistent with existing codebase patterns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Input: current stock levels per SKU + demand forecast signals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Operator-adjustable budget ceiling — the team sets the constraint, the system recommends within it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Output: ranked purchase order recommendations with quantity and estimated cost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FastAPI endpoint backing the calculation — same JSON-file data layer, no DB migration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17320"/>
            <a:ext cx="539496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2704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DESIGN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We work within the existing Vue + FastAPI stack. No new runtime dependencies introduced without client approval. The view will be navigable from the existing sidebar.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017520"/>
            <a:ext cx="539496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312724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ASSUMPTIONS (TO CONFIRM WITH TANAKA)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3375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Budget ceiling is per warehouse, not global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Demand forecast is based on historical order data in the JSON files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Recommendations are advisory, not auto-submitted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2057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REQUIRED DELIVERABLE · R3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Automated Browser Testing — unblocking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</a:rPr>
              <a:t>› Inventory browse — warehouse filter applied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</a:rPr>
              <a:t>› Orders management — view and status filter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</a:rPr>
              <a:t>› Reports module — filter interactions, export, i18n rendering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BD5E1"/>
                </a:solidFill>
              </a:rPr>
              <a:t>› Restocking view — budget input, recommendation output,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Tests are written against localhost:3000 with the full stack running — real network calls, real data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417320"/>
            <a:ext cx="539496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52704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2C55E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Playwright — the industry standard for browser automation. Test files committed to the repo. CI-ready from day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108960"/>
            <a:ext cx="53949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32186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WHAT IT 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429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A passing test suite they can run before approving any PR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Tests as living documentation of expected behavior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A clear path to adding coverage for future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7672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REQUIRED DELIVERABLE · 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Architecture Documentation — delivered in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Current-state overview of the Vue 3 + FastAPI stack — components, routes, data flow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Data layer diagram — how JSON files in server/data/ map to API endpoints and frontend views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Deployment topology — frontend dev server (3000), API server (8001), and how they connect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Known gaps and technical debt noted explicitly — no whitewashing the handoff quality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BD5E1"/>
                </a:solidFill>
              </a:rPr>
              <a:t>› Delivered as an HTML interactive diagram — shareable without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17320"/>
            <a:ext cx="539496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52704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59E0B"/>
                </a:solidFill>
              </a:rPr>
              <a:t>WHY WEEK 2?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Delivering R4 early gives IT and new engineers the map they need to understand every change we make from Week 3 onward. It de-risks the rest of the engagement.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383280"/>
            <a:ext cx="539496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349300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703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HTML with embedded SVG diagram. No Visio, no Confluence dependency.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Version-controlled alongside the code. Always up-to-date.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3701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ARCHITECTURE · R4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Current-state system —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423160" cy="4160520"/>
          </a:xfrm>
          <a:prstGeom prst="rect">
            <a:avLst/>
          </a:prstGeom>
          <a:solidFill>
            <a:srgbClr val="0A1830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4231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81328"/>
            <a:ext cx="22037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09928"/>
            <a:ext cx="22037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Vue 3 SPA  · 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47672"/>
            <a:ext cx="2203704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Dashboard.vue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Inventory.vue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Orders.vue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Reports.vue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B82F6"/>
                </a:solidFill>
              </a:rPr>
              <a:t>Restocking.vue  *</a:t>
            </a:r>
          </a:p>
          <a:p>
            <a:pPr>
              <a:spcBef>
                <a:spcPts val="200"/>
              </a:spcBef>
            </a:pPr>
            <a:r>
              <a:rPr sz="700">
                <a:solidFill>
                  <a:srgbClr val="64748B"/>
                </a:solidFill>
              </a:rPr>
              <a:t>— Shared —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FilterBar.vue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useFilters.js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currency.js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3784" y="3314700"/>
            <a:ext cx="237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1371600"/>
            <a:ext cx="2423160" cy="4160520"/>
          </a:xfrm>
          <a:prstGeom prst="rect">
            <a:avLst/>
          </a:prstGeom>
          <a:solidFill>
            <a:srgbClr val="0D1030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36392" y="1371600"/>
            <a:ext cx="242316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481328"/>
            <a:ext cx="22037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366F1"/>
                </a:solidFill>
              </a:rPr>
              <a:t>API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709928"/>
            <a:ext cx="22037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src/api.js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947672"/>
            <a:ext cx="2203704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Axios instance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base :8001/api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URLSearchParams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14 endpoints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Filter params: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warehouse · category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status ·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3314700"/>
            <a:ext cx="237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07024" y="1371600"/>
            <a:ext cx="2423160" cy="4160520"/>
          </a:xfrm>
          <a:prstGeom prst="rect">
            <a:avLst/>
          </a:prstGeom>
          <a:solidFill>
            <a:srgbClr val="0720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07024" y="1371600"/>
            <a:ext cx="24231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6752" y="1481328"/>
            <a:ext cx="22037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2C55E"/>
                </a:solidFill>
              </a:rPr>
              <a:t>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1709928"/>
            <a:ext cx="22037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server/main.py  ·  :8001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947672"/>
            <a:ext cx="2203704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/inventory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/orders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/demand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B82F6"/>
                </a:solidFill>
              </a:rPr>
              <a:t>/reports/*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B82F6"/>
                </a:solidFill>
              </a:rPr>
              <a:t>/spending/*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B82F6"/>
                </a:solidFill>
              </a:rPr>
              <a:t>/restocking  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314700"/>
            <a:ext cx="237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77656" y="1371600"/>
            <a:ext cx="2423160" cy="4160520"/>
          </a:xfrm>
          <a:prstGeom prst="rect">
            <a:avLst/>
          </a:prstGeom>
          <a:solidFill>
            <a:srgbClr val="221805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77656" y="1371600"/>
            <a:ext cx="24231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7384" y="1481328"/>
            <a:ext cx="22037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</a:rP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1709928"/>
            <a:ext cx="22037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server/data/  (JSON)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1947672"/>
            <a:ext cx="2203704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inventory.json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orders.json (3.5k)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demand_forecasts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spending.json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purchase_orders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No DB — JSON loaded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</a:rPr>
              <a:t>into memory at startup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669280"/>
            <a:ext cx="1645920" cy="292608"/>
          </a:xfrm>
          <a:prstGeom prst="rect">
            <a:avLst/>
          </a:prstGeom>
          <a:solidFill>
            <a:srgbClr val="0A1830"/>
          </a:solidFill>
          <a:ln w="6350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72414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:3000 Vue SPA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5669280"/>
            <a:ext cx="2103120" cy="292608"/>
          </a:xfrm>
          <a:prstGeom prst="rect">
            <a:avLst/>
          </a:prstGeom>
          <a:solidFill>
            <a:srgbClr val="051E11"/>
          </a:solidFill>
          <a:ln w="6350">
            <a:solidFill>
              <a:srgbClr val="0D4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40280" y="5724144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2C55E"/>
                </a:solidFill>
              </a:rPr>
              <a:t>:8001 FastAPI / Uvicorn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669280"/>
            <a:ext cx="2377440" cy="292608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0560" y="572414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</a:rPr>
              <a:t>Pydantic v2  ·  CORS open all origins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5669280"/>
            <a:ext cx="2743200" cy="292608"/>
          </a:xfrm>
          <a:prstGeom prst="rect">
            <a:avLst/>
          </a:prstGeom>
          <a:solidFill>
            <a:srgbClr val="08162E"/>
          </a:solidFill>
          <a:ln w="6350">
            <a:solidFill>
              <a:srgbClr val="1E3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78240" y="5724144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B82F6"/>
                </a:solidFill>
              </a:rPr>
              <a:t>*  New in this engagement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DELIVERY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10 weeks · 3 phases · fixed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Weeks 1–2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417320"/>
            <a:ext cx="10058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161848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R4 Architecture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1848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R1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1848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Codebase orientation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61848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Kickoff &amp;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06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260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Weeks 3–6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514600"/>
            <a:ext cx="10058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27157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R1 Fixes (≥8 issues)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157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R2 Restocking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157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R3 Test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7157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Phase gate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703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233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Weeks 7–9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3611880"/>
            <a:ext cx="10058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37360" y="381304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R3 Full test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81304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D1 UI modernization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1304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D2 i18n (Tokyo)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81304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BD5E1"/>
                </a:solidFill>
              </a:rPr>
              <a:t>D3 Dark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0059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Buffer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516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Week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4709159"/>
            <a:ext cx="10058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37360" y="491032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4A3B8"/>
                </a:solidFill>
              </a:rPr>
              <a:t>Review &amp; sign-off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91032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4A3B8"/>
                </a:solidFill>
              </a:rPr>
              <a:t>Contingency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91032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4A3B8"/>
                </a:solidFill>
              </a:rPr>
              <a:t>Final handoff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3226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COMMERCIAL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Fixed-fee · not-to-exceed · no surprises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7863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BD5E1"/>
                </a:solidFill>
              </a:rPr>
              <a:t>R4 Architecture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417320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</a:rPr>
              <a:t>€2,500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09928"/>
            <a:ext cx="7863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BD5E1"/>
                </a:solidFill>
              </a:rPr>
              <a:t>R1 Reports remediation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80136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01368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</a:rPr>
              <a:t>€10,000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7863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BD5E1"/>
                </a:solidFill>
              </a:rPr>
              <a:t>R3 Automated browser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185416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85416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</a:rPr>
              <a:t>€6,250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78024"/>
            <a:ext cx="7863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569464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BD5E1"/>
                </a:solidFill>
              </a:rPr>
              <a:t>R2 Restocking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69464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69464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</a:rPr>
              <a:t>€12,500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62072"/>
            <a:ext cx="7863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953512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BD5E1"/>
                </a:solidFill>
              </a:rPr>
              <a:t>Project management &amp;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953512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53512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</a:rPr>
              <a:t>€6,250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46120"/>
            <a:ext cx="786384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37560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Required total (R1–R4)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337560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B82F6"/>
                </a:solidFill>
              </a:rPr>
              <a:t>€37,500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0168"/>
            <a:ext cx="7863840" cy="384048"/>
          </a:xfrm>
          <a:prstGeom prst="rect">
            <a:avLst/>
          </a:prstGeom>
          <a:solidFill>
            <a:srgbClr val="16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21608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366F1"/>
                </a:solidFill>
              </a:rPr>
              <a:t>Optional extension D1–D3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14216"/>
            <a:ext cx="7863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105656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BD5E1"/>
                </a:solidFill>
              </a:rPr>
              <a:t>D1 UI modernization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105656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05656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</a:rPr>
              <a:t>€6,250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98264"/>
            <a:ext cx="7863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4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BD5E1"/>
                </a:solidFill>
              </a:rPr>
              <a:t>D2 Internationalization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489704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489704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</a:rPr>
              <a:t>€5,000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82312"/>
            <a:ext cx="7863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873752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BD5E1"/>
                </a:solidFill>
              </a:rPr>
              <a:t>D3 Dark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873752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873752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</a:rPr>
              <a:t>€3,750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295900"/>
            <a:ext cx="786384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5384800"/>
            <a:ext cx="5029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Full scope 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5384800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8FAFC"/>
                </a:solidFill>
              </a:rPr>
              <a:t>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384800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B82F6"/>
                </a:solidFill>
              </a:rPr>
              <a:t>€52,500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1417320"/>
            <a:ext cx="356616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49640" y="1527048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PAYMENT MILESTONES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17373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30% on contract signing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40% at Phase 2 gate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30% on final delivery and sign-off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383280"/>
            <a:ext cx="356616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49640" y="3493008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B82F6"/>
                </a:solidFill>
              </a:rPr>
              <a:t>FIXED-FEE RATIONALE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37033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Okafor values predictability. Our fixed fee means Meridian cannot overspend regardless of what we find in the codebase. No change-order creep on required scope.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515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FIRM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Relevant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749039" cy="2794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527048"/>
            <a:ext cx="3529583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B82F6"/>
                </a:solidFill>
              </a:rPr>
              <a:t>Project Fluent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3529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Mid-market industrial distributor, Germany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12264"/>
            <a:ext cx="35295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Vue 3  FastAPI  Playwright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31720"/>
            <a:ext cx="35295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10 weeks · 3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565400"/>
            <a:ext cx="35295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Inherited dashboard · defect remediation + test coverage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11 defects resolved across filter, i18n, and formatting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Playwright suite · 8 critical flows · 94% coverage at delivery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Architecture docs handed to IT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3784600"/>
            <a:ext cx="3529583" cy="381000"/>
          </a:xfrm>
          <a:prstGeom prst="rect">
            <a:avLst/>
          </a:prstGeom>
          <a:solidFill>
            <a:srgbClr val="0D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3835400"/>
            <a:ext cx="34198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C55E"/>
                </a:solidFill>
              </a:rPr>
              <a:t>IT team approved 2 follow-on change requests within Q1. Zero regressions in 6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749039" cy="2794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749039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8" y="1527048"/>
            <a:ext cx="3529583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Project Apex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764792"/>
            <a:ext cx="3529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EMEA wholesale distributor, Netherlands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112264"/>
            <a:ext cx="35295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Vue 3  FastAPI 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331720"/>
            <a:ext cx="35295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14 weeks · 4 engineers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565400"/>
            <a:ext cx="35295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Net-new restocking recommendations view on live app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Budget-ceiling purchase order engine (FastAPI)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ERP export workflow (SAP B1 REST integration)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Playwright regression suite for new + existing 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8" y="3784600"/>
            <a:ext cx="3529583" cy="381000"/>
          </a:xfrm>
          <a:prstGeom prst="rect">
            <a:avLst/>
          </a:prstGeom>
          <a:solidFill>
            <a:srgbClr val="0D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3835400"/>
            <a:ext cx="34198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C55E"/>
                </a:solidFill>
              </a:rPr>
              <a:t>30% reduction in manual reorder prep time. Delivered on schedule.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3749039" cy="2794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1417320"/>
            <a:ext cx="3749039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8" y="1527048"/>
            <a:ext cx="3529583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</a:rPr>
              <a:t>Project Kanji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1764792"/>
            <a:ext cx="3529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8FAFC"/>
                </a:solidFill>
              </a:rPr>
              <a:t>Precision parts manufacturer, Germany &amp; Tokyo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112264"/>
            <a:ext cx="35295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Vue 3  vue-i18n v9  Playwright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2331720"/>
            <a:ext cx="35295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16 weeks · 4 engineers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2565400"/>
            <a:ext cx="35295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UI modernization + Japanese locale rollout (all modules)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Dark-mode theme for 12 warehouse floor stations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87 Playwright tests across DE/EN/JP locale variants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94A3B8"/>
                </a:solidFill>
              </a:rPr>
              <a:t>› WCAG 2.1 AA compliance confirmed on primary 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8" y="3784600"/>
            <a:ext cx="3529583" cy="381000"/>
          </a:xfrm>
          <a:prstGeom prst="rect">
            <a:avLst/>
          </a:prstGeom>
          <a:solidFill>
            <a:srgbClr val="0D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3835400"/>
            <a:ext cx="3419855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C55E"/>
                </a:solidFill>
              </a:rPr>
              <a:t>Tokyo team fully adopted Japanese-locale views within first week.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3180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748B"/>
                </a:solidFill>
              </a:rPr>
              <a:t>Client names anonymized per standard reference policy. Detailed case studies and referee contacts available on request.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7157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OUR PROPOSED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Four people. One engagement. No hand-offs.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4864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Lars Meijering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3794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Engagement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756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12 yrs consulting  ·  PMP certified  ·  Delivery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Led 3 comparable dashboard modernization engagements. Primary point of contact for J. Okafor and R. Tanaka throughout the engagement.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2704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Sophie Berger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3794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756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Vue 3 specialist  ·  7 yrs experience  ·  vue-i18n contributor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Open-source contributor to vue-i18n. Built 2 operator-facing inventory UIs in comparable stack. Will lead R1, R2, and D1–D3.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4864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81304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Daniel Kovač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2394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Backend &amp; API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616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Python / FastAPI  ·  6 yrs experience  ·  API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177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Delivered the restocking algorithm for a wholesale distributor in Project Apex. Owns data pipeline reliability and the R2 backend endpoint.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54864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81304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Yuki Tanabe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2394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</a:rPr>
              <a:t>QA &amp; Test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616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Playwright  ·  Cypress  ·  CI/CD pipelines  ·  Native Japanese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6177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Delivered 94% E2E coverage on Project Fluent. Native Japanese speaker — directly validates Tokyo i18n and locale rendering.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52160"/>
            <a:ext cx="11430000" cy="411480"/>
          </a:xfrm>
          <a:prstGeom prst="rect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923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Full CVs available on request. Team allocation: 100% dedicated for Phases 1–2, 50% in Phase 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38461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FIRM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Why adesso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347472" cy="347472"/>
          </a:xfrm>
          <a:prstGeom prst="rect">
            <a:avLst/>
          </a:prstGeom>
          <a:solidFill>
            <a:srgbClr val="1A2E4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892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Vue 3 + FastAPI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We work in this exact stack daily. Composition API, Vite, Python async patterns — no learning curve on the fundamentals.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54864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926080"/>
            <a:ext cx="347472" cy="347472"/>
          </a:xfrm>
          <a:prstGeom prst="rect">
            <a:avLst/>
          </a:prstGeom>
          <a:solidFill>
            <a:srgbClr val="1A2E4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4892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Audit-and-fix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We document before we touch. Meridian gets a full defect log before any code changes — not a bill for hours of undocumented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54864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4389120"/>
            <a:ext cx="347472" cy="347472"/>
          </a:xfrm>
          <a:prstGeom prst="rect">
            <a:avLst/>
          </a:prstGeom>
          <a:solidFill>
            <a:srgbClr val="1A2E4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4892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Test-first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Playwright is standard practice for us. IT's gating requirement is something we'd have recommended anyway.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51600"/>
            <a:ext cx="54864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347472" cy="347472"/>
          </a:xfrm>
          <a:prstGeom prst="rect">
            <a:avLst/>
          </a:prstGeom>
          <a:solidFill>
            <a:srgbClr val="1A2E4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463040"/>
            <a:ext cx="4892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Structured delivery, not heroics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78308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Phase gates, written sign-offs, and a fixed fee. Okafor gets predictability; Tanaka gets her feature; IT gets their tests.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4864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926080"/>
            <a:ext cx="347472" cy="347472"/>
          </a:xfrm>
          <a:prstGeom prst="rect">
            <a:avLst/>
          </a:prstGeom>
          <a:solidFill>
            <a:srgbClr val="1A2E4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2926080"/>
            <a:ext cx="4892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Multi-region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4612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We understand the Tokyo warehouse context. i18n and timezone handling are first-class concerns, not afterthoughts.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4864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4389120"/>
            <a:ext cx="347472" cy="347472"/>
          </a:xfrm>
          <a:prstGeom prst="rect">
            <a:avLst/>
          </a:prstGeom>
          <a:solidFill>
            <a:srgbClr val="1A2E4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4389120"/>
            <a:ext cx="4892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Evaluation criteria 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70916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40% technical approach · 25% experience · 20% timeline · 15% price. This proposal is structured to score well on what Meridian weighted highest.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6451600"/>
            <a:ext cx="548640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E3000F"/>
                </a:solidFill>
              </a:rPr>
              <a:t>adesso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61394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900" b="1">
                <a:solidFill>
                  <a:srgbClr val="3B82F6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/>
            <a:r>
              <a:rPr sz="2400" b="1">
                <a:solidFill>
                  <a:srgbClr val="F8FAFC"/>
                </a:solidFill>
              </a:rPr>
              <a:t>How we move from proposal to engagement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72184"/>
            <a:ext cx="347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Clarification call with procurement (J. Okafor)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Per RFP §6 — we've submitted 5 written questions. A 30-minute call to confirm budget range, 'critical flows' definition, and Tokyo i18n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50008"/>
            <a:ext cx="1133856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523744"/>
            <a:ext cx="347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Capabilities presentation (if shortlisted)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1635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We're ready to present within 5 business days of shortlist notification. This deck is our starting 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01568"/>
            <a:ext cx="1133856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566159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575303"/>
            <a:ext cx="347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57015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Contract and access provisioning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67911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On award: SOW sign-off, repo access, and a kickoff meeting with Tanaka and IT within one week of contract execution.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53127"/>
            <a:ext cx="1133856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626864"/>
            <a:ext cx="347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08576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FAFC"/>
                </a:solidFill>
              </a:rPr>
              <a:t>Week 2 architecture doc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First tangible deliverable — gives Meridian something in hand early and signals how we work.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51600"/>
            <a:ext cx="11338560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5431249"/>
            <a:ext cx="11338560" cy="502920"/>
          </a:xfrm>
          <a:prstGeom prst="rect">
            <a:avLst/>
          </a:prstGeom>
          <a:solidFill>
            <a:srgbClr val="101F35"/>
          </a:solidFill>
          <a:ln w="6350">
            <a:solidFill>
              <a:srgbClr val="2D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431249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Questions or to schedule the clarification call: </a:t>
            </a:r>
            <a:r>
              <a:rPr sz="1100" b="1">
                <a:solidFill>
                  <a:srgbClr val="3B82F6"/>
                </a:solidFill>
              </a:rPr>
              <a:t>marcel.cossijns@adesso.de</a:t>
            </a:r>
            <a:r>
              <a:rPr sz="1100">
                <a:solidFill>
                  <a:srgbClr val="94A3B8"/>
                </a:solidFill>
              </a:rPr>
              <a:t>  ·  Reference RFP MC-2026-0417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15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dirty="0" err="1">
                <a:solidFill>
                  <a:srgbClr val="E3000F"/>
                </a:solidFill>
              </a:rPr>
              <a:t>adesso</a:t>
            </a:r>
            <a:endParaRPr sz="1400" b="1" dirty="0">
              <a:solidFill>
                <a:srgbClr val="E3000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4320" y="65151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69984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17815B5-7485-42BA-A01E-7B936A2DC64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5dfcce1-76c4-4999-8db2-23a3b36802e8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0AEF9C7-6C10-420C-867D-9E0377D70CD1}">
  <we:reference id="wa200010725" version="1.0.0.1" store="de-DE" storeType="OMEX"/>
  <we:alternateReferences>
    <we:reference id="WA200010725" version="1.0.0.1" store="" storeType="OMEX"/>
  </we:alternateReferences>
  <we:properties>
    <we:property name="claude.fileId" value="&quot;8828f675-b426-497a-95f2-225088d992e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2098</Words>
  <Application>Microsoft Office PowerPoint</Application>
  <PresentationFormat>Benutzerdefiniert</PresentationFormat>
  <Paragraphs>354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Marcel Cossijns</cp:lastModifiedBy>
  <cp:revision>3</cp:revision>
  <dcterms:created xsi:type="dcterms:W3CDTF">2013-01-27T09:14:16Z</dcterms:created>
  <dcterms:modified xsi:type="dcterms:W3CDTF">2026-06-30T10:36:07Z</dcterms:modified>
  <cp:category/>
</cp:coreProperties>
</file>